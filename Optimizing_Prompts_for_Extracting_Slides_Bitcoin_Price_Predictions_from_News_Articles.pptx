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y="5143500" cx="9144000"/>
  <p:notesSz cx="5143500" cy="9144000"/>
  <p:embeddedFontLst>
    <p:embeddedFont>
      <p:font typeface="Garamond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Garamond-regular.fntdata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Garamond-italic.fntdata"/><Relationship Id="rId10" Type="http://schemas.openxmlformats.org/officeDocument/2006/relationships/slide" Target="slides/slide6.xml"/><Relationship Id="rId32" Type="http://schemas.openxmlformats.org/officeDocument/2006/relationships/font" Target="fonts/Garamond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schemas.openxmlformats.org/officeDocument/2006/relationships/font" Target="fonts/Garamond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78e345575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g3e78e345575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e78e345575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79156817e_0_6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g3e79156817e_0_6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e79156817e_0_6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5" name="Google Shape;26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0" name="Google Shape;340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e79156817e_0_36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9" name="Google Shape;349;g3e79156817e_0_36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g3e79156817e_0_36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e79156817e_0_34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7" name="Google Shape;367;g3e79156817e_0_34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g3e79156817e_0_34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e79156817e_0_30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0" name="Google Shape;380;g3e79156817e_0_30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3e79156817e_0_30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5" name="Google Shape;415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9" name="Google Shape;479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dbd7f730bb_1_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6" name="Google Shape;496;g3dbd7f730bb_1_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g3dbd7f730bb_1_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dbd7f730bb_1_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6" name="Google Shape;506;g3dbd7f730bb_1_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g3dbd7f730bb_1_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0" name="Google Shape;53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dbd7f730bb_1_4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2" name="Google Shape;542;g3dbd7f730bb_1_4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g3dbd7f730bb_1_4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2" name="Google Shape;552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dbd7f730bb_1_5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6" name="Google Shape;566;g3dbd7f730bb_1_5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g3dbd7f730bb_1_5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dbd7f730bb_1_7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5" name="Google Shape;575;g3dbd7f730bb_1_7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g3dbd7f730bb_1_7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dbd7f730bb_1_8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1" name="Google Shape;581;g3dbd7f730bb_1_8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g3dbd7f730bb_1_8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5" name="Google Shape;595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19.png"/><Relationship Id="rId8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5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Relationship Id="rId4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Relationship Id="rId4" Type="http://schemas.openxmlformats.org/officeDocument/2006/relationships/image" Target="../media/image23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Relationship Id="rId4" Type="http://schemas.openxmlformats.org/officeDocument/2006/relationships/image" Target="../media/image2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5943600" y="274320"/>
            <a:ext cx="292608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3B"/>
              </a:buClr>
              <a:buSzPts val="20000"/>
              <a:buFont typeface="Calibri"/>
              <a:buNone/>
            </a:pPr>
            <a:r>
              <a:rPr lang="en-US" sz="20000">
                <a:solidFill>
                  <a:srgbClr val="1B2A3B"/>
                </a:solidFill>
                <a:latin typeface="Calibri"/>
                <a:ea typeface="Calibri"/>
                <a:cs typeface="Calibri"/>
                <a:sym typeface="Calibri"/>
              </a:rPr>
              <a:t>₿</a:t>
            </a:r>
            <a:endParaRPr sz="20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365760" y="914400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Optimizing Prompts for Extracting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365760" y="1508760"/>
            <a:ext cx="6583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Bitcoin Price Predictions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365760" y="2286000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from News Articles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365760" y="3108960"/>
            <a:ext cx="4114800" cy="18288"/>
          </a:xfrm>
          <a:prstGeom prst="rect">
            <a:avLst/>
          </a:prstGeom>
          <a:solidFill>
            <a:srgbClr val="7A8FA6"/>
          </a:solidFill>
          <a:ln cap="flat" cmpd="sng" w="12700">
            <a:solidFill>
              <a:srgbClr val="7A8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365760" y="324612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Bingrui Yang   ·   John Kim   ·   Milo Stern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65760" y="356616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Occidental College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365760" y="73152"/>
            <a:ext cx="82296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274320" y="960120"/>
            <a:ext cx="411480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274320" y="960120"/>
            <a:ext cx="64008" cy="173736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411480" y="149047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Noisy Signals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411480" y="1801368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Char char="●"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Bitcoin is one of the most volatile assets in </a:t>
            </a: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world</a:t>
            </a:r>
            <a:endParaRPr sz="10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Char char="●"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Trader base is younger, more informal </a:t>
            </a: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language + platforms</a:t>
            </a:r>
            <a:endParaRPr sz="10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Char char="●"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Emerging support technologies adapt quickly</a:t>
            </a:r>
            <a:endParaRPr sz="10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709160" y="960120"/>
            <a:ext cx="411480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4709160" y="960120"/>
            <a:ext cx="64008" cy="173736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846320" y="149047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24/7, Ever-Changing Format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846320" y="1801368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Char char="●"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No markets–never closes</a:t>
            </a:r>
            <a:endParaRPr sz="10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Char char="●"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Decentralized and </a:t>
            </a: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scheduled</a:t>
            </a: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events by design</a:t>
            </a:r>
            <a:endParaRPr sz="10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Char char="●"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Updates can happen in hidden places</a:t>
            </a:r>
            <a:endParaRPr sz="10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274320" y="2880360"/>
            <a:ext cx="411480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274320" y="2880360"/>
            <a:ext cx="64008" cy="173736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11480" y="341071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Our Goal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11480" y="3721608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Char char="●"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Use news articles as a proxy for information stream</a:t>
            </a:r>
            <a:endParaRPr sz="10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Char char="●"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Utilize prompt optimization to extract features</a:t>
            </a:r>
            <a:endParaRPr sz="10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Char char="●"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Use an author as a case study to examine feasibility</a:t>
            </a:r>
            <a:endParaRPr sz="10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709160" y="2880360"/>
            <a:ext cx="4114800" cy="1737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709160" y="2880360"/>
            <a:ext cx="64008" cy="173736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846320" y="3410712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Why Prompt Optimization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846320" y="3721608"/>
            <a:ext cx="3840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Char char="●"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Data is c</a:t>
            </a: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ostly to </a:t>
            </a: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harvest</a:t>
            </a: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and label</a:t>
            </a:r>
            <a:endParaRPr sz="10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Char char="●"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As a result, fine tuning became unrealistic</a:t>
            </a:r>
            <a:endParaRPr sz="10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Char char="●"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Allows model comparison without changing weights</a:t>
            </a:r>
            <a:endParaRPr sz="10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858000" y="479602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365760" y="73152"/>
            <a:ext cx="82296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QUESTIONS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365760" y="960120"/>
            <a:ext cx="8412480" cy="1417320"/>
          </a:xfrm>
          <a:prstGeom prst="rect">
            <a:avLst/>
          </a:prstGeom>
          <a:solidFill>
            <a:srgbClr val="1B2A3B"/>
          </a:solidFill>
          <a:ln cap="flat" cmpd="sng" w="12700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365760" y="960120"/>
            <a:ext cx="731520" cy="141732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365760" y="960120"/>
            <a:ext cx="7315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1234440" y="1234440"/>
            <a:ext cx="74066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Does GEPA produce prompts that improve structured extraction of forward-looking Bitcoin sentiment compared to the shared seed prompt?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365760" y="2606040"/>
            <a:ext cx="8412480" cy="1417320"/>
          </a:xfrm>
          <a:prstGeom prst="rect">
            <a:avLst/>
          </a:prstGeom>
          <a:solidFill>
            <a:srgbClr val="1B2A3B"/>
          </a:solidFill>
          <a:ln cap="flat" cmpd="sng" w="12700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365760" y="2606040"/>
            <a:ext cx="731520" cy="141732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365760" y="2606040"/>
            <a:ext cx="7315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1234440" y="2880360"/>
            <a:ext cx="74066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Which model best recovers human-labeled direction and confidence on the held-out Bitcoin news test set using its optimized prompt?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365760" y="438912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Pipeline: GEPA optimization → Cross-model test evaluation → QWK agreement analysis → Author-level trust demo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6858000" y="479602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Research Questions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365760" y="73152"/>
            <a:ext cx="82296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 OVERVIEW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6858000" y="479602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Pipeline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596" y="1380121"/>
            <a:ext cx="8309515" cy="2823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1400" y="3793146"/>
            <a:ext cx="918300" cy="31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365760" y="73152"/>
            <a:ext cx="82296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&amp; SCORING SYSTEM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320040" y="822960"/>
            <a:ext cx="1920240" cy="13716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320040" y="82296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320040" y="16276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320040" y="187452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GEPA optimization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2423160" y="822960"/>
            <a:ext cx="1920240" cy="13716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2423160" y="82296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2423160" y="16276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Validation</a:t>
            </a:r>
            <a:endParaRPr b="1"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2423160" y="187452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 selection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4526280" y="822960"/>
            <a:ext cx="1920240" cy="1371600"/>
          </a:xfrm>
          <a:prstGeom prst="rect">
            <a:avLst/>
          </a:prstGeom>
          <a:solidFill>
            <a:srgbClr val="2ECC71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4526280" y="82296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4526280" y="16276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4526280" y="187452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 evaluation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6629400" y="822960"/>
            <a:ext cx="1920240" cy="1371600"/>
          </a:xfrm>
          <a:prstGeom prst="rect">
            <a:avLst/>
          </a:prstGeom>
          <a:solidFill>
            <a:srgbClr val="9B59B6"/>
          </a:solidFill>
          <a:ln cap="flat" cmpd="sng" w="1270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6629400" y="82296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6629400" y="16276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Author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6629400" y="187452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 demo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320040" y="2423160"/>
            <a:ext cx="8503920" cy="2423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502920" y="2514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Unified 1–15 Score:  s = Δ + c (Developed for </a:t>
            </a:r>
            <a:r>
              <a:rPr b="1" lang="en-US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GEPA)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502920" y="2944368"/>
            <a:ext cx="2286000" cy="34747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548640" y="2944368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Direction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2788920" y="2944368"/>
            <a:ext cx="1645920" cy="34747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2834640" y="2944368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Offset (Δ)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4434840" y="2944368"/>
            <a:ext cx="2011680" cy="34747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4480560" y="294436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Confidence (c)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6446520" y="2944368"/>
            <a:ext cx="1828800" cy="34747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6492240" y="2944368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Score Range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502920" y="3291840"/>
            <a:ext cx="228600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48640" y="3291840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Bearish  −1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2788920" y="3291840"/>
            <a:ext cx="164592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2834640" y="329184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4434840" y="3291840"/>
            <a:ext cx="201168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4480560" y="329184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 – 5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6446520" y="3291840"/>
            <a:ext cx="182880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6492240" y="3291840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 – 5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502920" y="3639312"/>
            <a:ext cx="2286000" cy="34747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548640" y="3639312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Neutral   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2788920" y="3639312"/>
            <a:ext cx="1645920" cy="34747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2834640" y="3639312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4434840" y="3639312"/>
            <a:ext cx="2011680" cy="34747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4480560" y="363931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 – 5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6446520" y="3639312"/>
            <a:ext cx="1828800" cy="34747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6492240" y="3639312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6 – 10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502920" y="3986784"/>
            <a:ext cx="228600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548640" y="3986784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Bullish  +1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2788920" y="3986784"/>
            <a:ext cx="164592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2834640" y="3986784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4434840" y="3986784"/>
            <a:ext cx="201168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4480560" y="3986784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 – 5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6446520" y="3986784"/>
            <a:ext cx="182880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6492240" y="3986784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11 – 15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6858000" y="479602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Data &amp; Scoring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/>
          <p:nvPr/>
        </p:nvSpPr>
        <p:spPr>
          <a:xfrm>
            <a:off x="0" y="0"/>
            <a:ext cx="9144000" cy="8037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373185" y="154952"/>
            <a:ext cx="82296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GEPA:  </a:t>
            </a:r>
            <a:r>
              <a:rPr b="1" lang="en-US" sz="20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Ge</a:t>
            </a: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netic-</a:t>
            </a:r>
            <a:r>
              <a:rPr b="1" lang="en-US" sz="20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Pa</a:t>
            </a: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reto - a prompt optimizer that thoroughly incorporates natural language reflection to learn high-level rules from trial and error.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0" y="803805"/>
            <a:ext cx="9144000" cy="549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538" y="867207"/>
            <a:ext cx="8457116" cy="80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670900"/>
            <a:ext cx="3539826" cy="232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06497" y="1565017"/>
            <a:ext cx="4133727" cy="21159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52000" y="2006246"/>
            <a:ext cx="3040000" cy="1674666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8"/>
          <p:cNvSpPr/>
          <p:nvPr/>
        </p:nvSpPr>
        <p:spPr>
          <a:xfrm>
            <a:off x="320090" y="3881698"/>
            <a:ext cx="8503800" cy="1261800"/>
          </a:xfrm>
          <a:prstGeom prst="rect">
            <a:avLst/>
          </a:prstGeom>
          <a:solidFill>
            <a:srgbClr val="1B2A3B"/>
          </a:solidFill>
          <a:ln cap="flat" cmpd="sng" w="12700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320090" y="3881698"/>
            <a:ext cx="685800" cy="12618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320090" y="3881698"/>
            <a:ext cx="6858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1115618" y="3946700"/>
            <a:ext cx="7543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Limitation - Metric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1115618" y="4248541"/>
            <a:ext cx="7543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050"/>
              <a:buFont typeface="Calibri"/>
              <a:buChar char="●"/>
            </a:pPr>
            <a:r>
              <a:rPr lang="en-US" sz="105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Partial credit based on absolute distances on the 1-15 scale</a:t>
            </a:r>
            <a:endParaRPr sz="1050">
              <a:solidFill>
                <a:srgbClr val="E8ED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050"/>
              <a:buFont typeface="Calibri"/>
              <a:buChar char="●"/>
            </a:pPr>
            <a:r>
              <a:rPr lang="en-US" sz="105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Issue: 9 -&gt; 11 only moves by 2 points, but crosses a clear theoretical boundary of neutral to bullish</a:t>
            </a:r>
            <a:endParaRPr sz="1050">
              <a:solidFill>
                <a:srgbClr val="E8ED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050"/>
              <a:buFont typeface="Calibri"/>
              <a:buChar char="●"/>
            </a:pPr>
            <a:r>
              <a:rPr lang="en-US" sz="105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Future: Use an evaluation metric that gives little to 0 credit for boundary violations</a:t>
            </a:r>
            <a:endParaRPr sz="1050">
              <a:solidFill>
                <a:srgbClr val="E8ED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365760" y="73152"/>
            <a:ext cx="82296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GEPA OPTIMIZATION METHOD - KEY </a:t>
            </a: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TERMS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0" y="640080"/>
            <a:ext cx="9144000" cy="549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6858000" y="4796028"/>
            <a:ext cx="219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Method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132100" y="825575"/>
            <a:ext cx="4371900" cy="39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Rollout: Running one candidate prompt on one or more training articles to see what score the task model predicts.</a:t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Budget: The maximum number of evaluator calls GEPA is allowed to spend during optimization. (In our case, set to 150)</a:t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Iteration: One GEPA loop where it selects existing prompt candidate(s), proposes a new prompt, tests it, and either keeps or discards it.</a:t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Candidate: One specific prompt version being tested by GEPA.</a:t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Pareto Frontier: The filtered set of prompts that are useful because each one is best or competitive on at least some examples, instead of only keeping the single best average prompt.</a:t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Mutate: Creating a new prompt by reflecting on one existing prompt’s mistakes and rewriting it.</a:t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Merge: Creating a new prompt by combining useful parts from two existing prompts.</a:t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Minibatch: A small sampled group of training articles used to quickly test whether a new prompt seems promising.</a:t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4691775" y="825575"/>
            <a:ext cx="42270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Evaluator: The scoring function that compares the model’s predicted score with the human gold score and returns partial credit plus feedback (In our case, the metric shown before) .</a:t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Feedback: The text generated by the evaluator that explains whether the prediction was correct, too bullish, too bearish, or failed to parse, and including human reasoning.</a:t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Task Model: The LLM that actually reads the Bitcoin article and outputs {"score": ...}.</a:t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Reflection Model: The LLM that reads feedback and writes a revised prompt.</a:t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(In our case, task and reflection model are the same)</a:t>
            </a:r>
            <a:endParaRPr sz="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365760" y="73152"/>
            <a:ext cx="82296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GEPA OPTIMIZATION METHOD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6858000" y="479602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Method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3001" y="811076"/>
            <a:ext cx="7175100" cy="404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365760" y="73152"/>
            <a:ext cx="82296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1 — GEPA RESULTS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320040" y="697814"/>
            <a:ext cx="2926200" cy="4116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365760" y="697814"/>
            <a:ext cx="2834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Source Model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3246120" y="697814"/>
            <a:ext cx="1371600" cy="4116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3291840" y="697814"/>
            <a:ext cx="1280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Candidates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4617720" y="697814"/>
            <a:ext cx="1371600" cy="4116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4663440" y="697814"/>
            <a:ext cx="1280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Accepted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5989320" y="697814"/>
            <a:ext cx="1645800" cy="4116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6035040" y="697814"/>
            <a:ext cx="1554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</a:t>
            </a: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Words </a:t>
            </a: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best prompt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7635240" y="697814"/>
            <a:ext cx="1371600" cy="4116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7680960" y="697814"/>
            <a:ext cx="1280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Growth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320040" y="1109294"/>
            <a:ext cx="2926200" cy="384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365760" y="1109294"/>
            <a:ext cx="2834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Claude Sonnet 4.6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3246120" y="1109294"/>
            <a:ext cx="1371600" cy="384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3291840" y="1109294"/>
            <a:ext cx="128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4617720" y="1109294"/>
            <a:ext cx="1371600" cy="384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4663440" y="1109294"/>
            <a:ext cx="128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5989320" y="1109294"/>
            <a:ext cx="1645800" cy="384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6035040" y="1109294"/>
            <a:ext cx="1554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615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7635240" y="1109294"/>
            <a:ext cx="1371600" cy="384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7680960" y="1109294"/>
            <a:ext cx="128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6.68×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320040" y="1493342"/>
            <a:ext cx="2926200" cy="3840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365760" y="1493342"/>
            <a:ext cx="2834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GPT-OSS 120B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3246120" y="1493342"/>
            <a:ext cx="1371600" cy="3840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3291840" y="1493342"/>
            <a:ext cx="128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4617720" y="1493342"/>
            <a:ext cx="1371600" cy="3840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4663440" y="1493342"/>
            <a:ext cx="128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5989320" y="1493342"/>
            <a:ext cx="1645800" cy="3840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6035040" y="1493342"/>
            <a:ext cx="1554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92 (seed)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7635240" y="1493342"/>
            <a:ext cx="1371600" cy="3840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7680960" y="1493342"/>
            <a:ext cx="128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1.00×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320040" y="1877390"/>
            <a:ext cx="2926200" cy="384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365760" y="1877390"/>
            <a:ext cx="2834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Qwen 3.6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3246120" y="1877390"/>
            <a:ext cx="1371600" cy="384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3291840" y="1877390"/>
            <a:ext cx="128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4617720" y="1877390"/>
            <a:ext cx="1371600" cy="384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4663440" y="1877390"/>
            <a:ext cx="128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5989320" y="1877390"/>
            <a:ext cx="1645800" cy="384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6035040" y="1877390"/>
            <a:ext cx="1554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714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7635240" y="1877390"/>
            <a:ext cx="1371600" cy="384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7680960" y="1877390"/>
            <a:ext cx="128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7.76×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320040" y="2261438"/>
            <a:ext cx="2926200" cy="3840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365760" y="2261438"/>
            <a:ext cx="2834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Gemma 4 E2B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3246120" y="2261438"/>
            <a:ext cx="1371600" cy="3840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3291840" y="2261438"/>
            <a:ext cx="128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4617720" y="2261438"/>
            <a:ext cx="1371600" cy="3840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4663440" y="2261438"/>
            <a:ext cx="128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5989320" y="2261438"/>
            <a:ext cx="1645800" cy="3840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6035040" y="2261438"/>
            <a:ext cx="1554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259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7635240" y="2261438"/>
            <a:ext cx="1371600" cy="3840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7680960" y="2261438"/>
            <a:ext cx="128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2.82×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320040" y="2645486"/>
            <a:ext cx="2926200" cy="384000"/>
          </a:xfrm>
          <a:prstGeom prst="rect">
            <a:avLst/>
          </a:prstGeom>
          <a:solidFill>
            <a:srgbClr val="EFF3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365760" y="2645486"/>
            <a:ext cx="2834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3246120" y="2645486"/>
            <a:ext cx="1371600" cy="384000"/>
          </a:xfrm>
          <a:prstGeom prst="rect">
            <a:avLst/>
          </a:prstGeom>
          <a:solidFill>
            <a:srgbClr val="EFF3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3291840" y="2645486"/>
            <a:ext cx="128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4617720" y="2645486"/>
            <a:ext cx="1371600" cy="384000"/>
          </a:xfrm>
          <a:prstGeom prst="rect">
            <a:avLst/>
          </a:prstGeom>
          <a:solidFill>
            <a:srgbClr val="EFF3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4663440" y="2645486"/>
            <a:ext cx="128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5989320" y="2645486"/>
            <a:ext cx="1645800" cy="384000"/>
          </a:xfrm>
          <a:prstGeom prst="rect">
            <a:avLst/>
          </a:prstGeom>
          <a:solidFill>
            <a:srgbClr val="EFF3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6035040" y="2645486"/>
            <a:ext cx="1554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7635240" y="2645486"/>
            <a:ext cx="1371600" cy="384000"/>
          </a:xfrm>
          <a:prstGeom prst="rect">
            <a:avLst/>
          </a:prstGeom>
          <a:solidFill>
            <a:srgbClr val="EFF3F8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7680960" y="2645486"/>
            <a:ext cx="128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320040" y="3337560"/>
            <a:ext cx="2743200" cy="1508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320040" y="3337560"/>
            <a:ext cx="2743200" cy="457200"/>
          </a:xfrm>
          <a:prstGeom prst="rect">
            <a:avLst/>
          </a:prstGeom>
          <a:solidFill>
            <a:srgbClr val="2ECC71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320040" y="33375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of 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411480" y="3840480"/>
            <a:ext cx="2560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models grew prompts significantly (1.0×–7.76×)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3200400" y="3337560"/>
            <a:ext cx="2743200" cy="1508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3200400" y="3337560"/>
            <a:ext cx="2743200" cy="4572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3200400" y="33375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GPT-OSS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3291840" y="3840480"/>
            <a:ext cx="2560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selected its own seed as best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6080760" y="3337560"/>
            <a:ext cx="2743200" cy="1508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6080760" y="3337560"/>
            <a:ext cx="2743200" cy="4572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6080760" y="33375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38 total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6172200" y="3840480"/>
            <a:ext cx="2560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prompt candidates across 65 optimization iterations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6858000" y="479602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Stage 1 Results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75" y="3029500"/>
            <a:ext cx="8988449" cy="199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365760" y="73152"/>
            <a:ext cx="82296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1 — GEPA PROMPT EVOLUTION TREE for CLAUDE SONNET 4.6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858000" y="479602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Evolution Tree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2" name="Google Shape;26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370" y="694950"/>
            <a:ext cx="7629229" cy="4448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365760" y="73152"/>
            <a:ext cx="82296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2 — TEST EVALUATION  (35 held-out articles)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320040" y="841248"/>
            <a:ext cx="2560320" cy="38404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365760" y="84124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Task </a:t>
            </a:r>
            <a:r>
              <a:rPr b="1" lang="en-US" sz="105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2880360" y="841248"/>
            <a:ext cx="1371600" cy="38404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2926080" y="841248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Parse Rate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4251960" y="841248"/>
            <a:ext cx="1371600" cy="38404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4297693" y="841298"/>
            <a:ext cx="128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Exact Acc. (on all prompt candidates)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5623560" y="841248"/>
            <a:ext cx="1737360" cy="38404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5669280" y="841248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Direction Acc. </a:t>
            </a:r>
            <a:r>
              <a:rPr b="1" lang="en-US" sz="105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(on all prompt candidates)</a:t>
            </a:r>
            <a:endParaRPr b="1" sz="1050">
              <a:solidFill>
                <a:srgbClr val="2563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7360920" y="841248"/>
            <a:ext cx="1463040" cy="38404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7406640" y="841248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RMSE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320040" y="1225296"/>
            <a:ext cx="2560320" cy="475488"/>
          </a:xfrm>
          <a:prstGeom prst="rect">
            <a:avLst/>
          </a:prstGeom>
          <a:solidFill>
            <a:srgbClr val="1B2A3B"/>
          </a:solidFill>
          <a:ln cap="flat" cmpd="sng" w="12700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450134" y="1225296"/>
            <a:ext cx="2469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Claude Sonnet 4.6  (1330 preds)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2880360" y="1225296"/>
            <a:ext cx="1371600" cy="475488"/>
          </a:xfrm>
          <a:prstGeom prst="rect">
            <a:avLst/>
          </a:prstGeom>
          <a:solidFill>
            <a:srgbClr val="1B2A3B"/>
          </a:solidFill>
          <a:ln cap="flat" cmpd="sng" w="12700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2926080" y="1225296"/>
            <a:ext cx="1280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81.3%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4251960" y="1225296"/>
            <a:ext cx="1371600" cy="475488"/>
          </a:xfrm>
          <a:prstGeom prst="rect">
            <a:avLst/>
          </a:prstGeom>
          <a:solidFill>
            <a:srgbClr val="1B2A3B"/>
          </a:solidFill>
          <a:ln cap="flat" cmpd="sng" w="12700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4297680" y="1225296"/>
            <a:ext cx="1280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13%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5623560" y="1225296"/>
            <a:ext cx="1737360" cy="475488"/>
          </a:xfrm>
          <a:prstGeom prst="rect">
            <a:avLst/>
          </a:prstGeom>
          <a:solidFill>
            <a:srgbClr val="1B2A3B"/>
          </a:solidFill>
          <a:ln cap="flat" cmpd="sng" w="12700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5669280" y="1225296"/>
            <a:ext cx="1645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65.5%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7360920" y="1225296"/>
            <a:ext cx="1463040" cy="475488"/>
          </a:xfrm>
          <a:prstGeom prst="rect">
            <a:avLst/>
          </a:prstGeom>
          <a:solidFill>
            <a:srgbClr val="1B2A3B"/>
          </a:solidFill>
          <a:ln cap="flat" cmpd="sng" w="12700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7406640" y="1225296"/>
            <a:ext cx="1371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2.17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320040" y="1700784"/>
            <a:ext cx="2560320" cy="47548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450134" y="1700784"/>
            <a:ext cx="2469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GPT-OSS 120B </a:t>
            </a:r>
            <a:r>
              <a:rPr lang="en-US" sz="110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 (1330 preds)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2880360" y="1700784"/>
            <a:ext cx="1371600" cy="47548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2926080" y="1700784"/>
            <a:ext cx="1280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99.6%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4251960" y="1700784"/>
            <a:ext cx="1371600" cy="47548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4297680" y="1700784"/>
            <a:ext cx="1280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22.3%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5623560" y="1700784"/>
            <a:ext cx="1737360" cy="47548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5669280" y="1700784"/>
            <a:ext cx="1645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77%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7360920" y="1700784"/>
            <a:ext cx="1463040" cy="47548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7406640" y="1700784"/>
            <a:ext cx="1371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2.85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320040" y="2176272"/>
            <a:ext cx="2560320" cy="475488"/>
          </a:xfrm>
          <a:prstGeom prst="rect">
            <a:avLst/>
          </a:prstGeom>
          <a:solidFill>
            <a:srgbClr val="1B2A3B"/>
          </a:solidFill>
          <a:ln cap="flat" cmpd="sng" w="12700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450134" y="2176272"/>
            <a:ext cx="2469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Qwen 3.6 (805 preds)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2880360" y="2176272"/>
            <a:ext cx="1371600" cy="475488"/>
          </a:xfrm>
          <a:prstGeom prst="rect">
            <a:avLst/>
          </a:prstGeom>
          <a:solidFill>
            <a:srgbClr val="1B2A3B"/>
          </a:solidFill>
          <a:ln cap="flat" cmpd="sng" w="12700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2926080" y="2176272"/>
            <a:ext cx="1280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82.2</a:t>
            </a:r>
            <a:r>
              <a:rPr lang="en-US" sz="110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4251960" y="2176272"/>
            <a:ext cx="1371600" cy="475488"/>
          </a:xfrm>
          <a:prstGeom prst="rect">
            <a:avLst/>
          </a:prstGeom>
          <a:solidFill>
            <a:srgbClr val="1B2A3B"/>
          </a:solidFill>
          <a:ln cap="flat" cmpd="sng" w="12700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4297680" y="2176272"/>
            <a:ext cx="1280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24.6%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5623560" y="2176272"/>
            <a:ext cx="1737360" cy="475488"/>
          </a:xfrm>
          <a:prstGeom prst="rect">
            <a:avLst/>
          </a:prstGeom>
          <a:solidFill>
            <a:srgbClr val="1B2A3B"/>
          </a:solidFill>
          <a:ln cap="flat" cmpd="sng" w="12700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5669280" y="2176272"/>
            <a:ext cx="1645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76.0%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7360920" y="2176272"/>
            <a:ext cx="1463040" cy="475488"/>
          </a:xfrm>
          <a:prstGeom prst="rect">
            <a:avLst/>
          </a:prstGeom>
          <a:solidFill>
            <a:srgbClr val="1B2A3B"/>
          </a:solidFill>
          <a:ln cap="flat" cmpd="sng" w="12700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7406640" y="2176272"/>
            <a:ext cx="1371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2.82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320040" y="2651760"/>
            <a:ext cx="2560320" cy="47548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450134" y="2651760"/>
            <a:ext cx="2469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Gemma 4 E2B </a:t>
            </a:r>
            <a:r>
              <a:rPr lang="en-US" sz="110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 (1330 preds)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2880360" y="2651760"/>
            <a:ext cx="1371600" cy="47548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2926080" y="2651760"/>
            <a:ext cx="1280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4251960" y="2651760"/>
            <a:ext cx="1371600" cy="47548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4297680" y="2651760"/>
            <a:ext cx="1280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23.6%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5623560" y="2651760"/>
            <a:ext cx="1737360" cy="47548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5669280" y="2651760"/>
            <a:ext cx="1645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67.2%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7360920" y="2651760"/>
            <a:ext cx="1463040" cy="47548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7406640" y="2651760"/>
            <a:ext cx="1371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3.57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320065" y="3293395"/>
            <a:ext cx="54900" cy="4206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320040" y="3730752"/>
            <a:ext cx="54864" cy="42062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320040" y="4215384"/>
            <a:ext cx="54864" cy="42062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6858000" y="479602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Stage 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320115" y="3326919"/>
            <a:ext cx="8503800" cy="1261800"/>
          </a:xfrm>
          <a:prstGeom prst="rect">
            <a:avLst/>
          </a:prstGeom>
          <a:solidFill>
            <a:srgbClr val="1B2A3B"/>
          </a:solidFill>
          <a:ln cap="flat" cmpd="sng" w="12700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320115" y="3326919"/>
            <a:ext cx="685800" cy="12618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320115" y="3326919"/>
            <a:ext cx="6858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1115643" y="3400071"/>
            <a:ext cx="7543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Limitation - </a:t>
            </a:r>
            <a:r>
              <a:rPr b="1" lang="en-US" sz="13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Mechanical Failures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1115618" y="3691124"/>
            <a:ext cx="7543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050"/>
              <a:buFont typeface="Calibri"/>
              <a:buChar char="●"/>
            </a:pPr>
            <a:r>
              <a:rPr lang="en-US" sz="105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Reasoning models like </a:t>
            </a:r>
            <a:r>
              <a:rPr lang="en-US" sz="105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Claude sometimes returned step-by-step reasoning before expected output</a:t>
            </a:r>
            <a:endParaRPr sz="1050">
              <a:solidFill>
                <a:srgbClr val="E8ED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050"/>
              <a:buFont typeface="Calibri"/>
              <a:buChar char="●"/>
            </a:pPr>
            <a:r>
              <a:rPr lang="en-US" sz="105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Our scripts can only handle {"score": &lt;integer&gt;} when running comparisons</a:t>
            </a:r>
            <a:endParaRPr sz="1050">
              <a:solidFill>
                <a:srgbClr val="E8ED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050"/>
              <a:buFont typeface="Calibri"/>
              <a:buChar char="●"/>
            </a:pPr>
            <a:r>
              <a:rPr lang="en-US" sz="105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Qwen had timeout issues with longer prompts</a:t>
            </a:r>
            <a:endParaRPr sz="1050">
              <a:solidFill>
                <a:srgbClr val="E8ED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050"/>
              <a:buFont typeface="Calibri"/>
              <a:buChar char="●"/>
            </a:pPr>
            <a:r>
              <a:rPr lang="en-US" sz="105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Some calls hit 700-second timeouts; the run was killed after 22 hours.</a:t>
            </a:r>
            <a:endParaRPr sz="1050">
              <a:solidFill>
                <a:srgbClr val="E8ED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6858000" y="4796028"/>
            <a:ext cx="219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Stage 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1115643" y="3215478"/>
            <a:ext cx="7543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Limitation - Mechanical Failures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1115618" y="3506531"/>
            <a:ext cx="7543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050"/>
              <a:buFont typeface="Calibri"/>
              <a:buChar char="●"/>
            </a:pPr>
            <a:r>
              <a:rPr lang="en-US" sz="105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Reasoning models like Claude sometimes returned step-by-step reasoning before expected output</a:t>
            </a:r>
            <a:endParaRPr sz="1050">
              <a:solidFill>
                <a:srgbClr val="E8ED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050"/>
              <a:buFont typeface="Calibri"/>
              <a:buChar char="●"/>
            </a:pPr>
            <a:r>
              <a:rPr lang="en-US" sz="105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Our scripts can only handle {"score": &lt;integer&gt;} when running comparisons</a:t>
            </a:r>
            <a:endParaRPr sz="1050">
              <a:solidFill>
                <a:srgbClr val="E8ED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050"/>
              <a:buFont typeface="Calibri"/>
              <a:buChar char="●"/>
            </a:pPr>
            <a:r>
              <a:rPr lang="en-US" sz="105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Qwen had timeout issues with longer prompts</a:t>
            </a:r>
            <a:endParaRPr sz="1050">
              <a:solidFill>
                <a:srgbClr val="E8ED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050"/>
              <a:buFont typeface="Calibri"/>
              <a:buChar char="●"/>
            </a:pPr>
            <a:r>
              <a:rPr lang="en-US" sz="105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Some calls hit 700-second timeouts; the run was killed after 22 hours.</a:t>
            </a:r>
            <a:endParaRPr sz="1050">
              <a:solidFill>
                <a:srgbClr val="E8ED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320040" y="3338739"/>
            <a:ext cx="8503800" cy="1261800"/>
          </a:xfrm>
          <a:prstGeom prst="rect">
            <a:avLst/>
          </a:prstGeom>
          <a:solidFill>
            <a:srgbClr val="1B2A3B"/>
          </a:solidFill>
          <a:ln cap="flat" cmpd="sng" w="12700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320040" y="3338739"/>
            <a:ext cx="685800" cy="12618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320040" y="3338739"/>
            <a:ext cx="6858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1115568" y="3411891"/>
            <a:ext cx="7543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Dataset Size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1115568" y="3750219"/>
            <a:ext cx="7543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050"/>
              <a:buFont typeface="Calibri"/>
              <a:buChar char="●"/>
            </a:pPr>
            <a:r>
              <a:rPr lang="en-US" sz="105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Only 24 training and 6 validation articles were used for GEPA</a:t>
            </a:r>
            <a:endParaRPr sz="1050">
              <a:solidFill>
                <a:srgbClr val="E8ED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050"/>
              <a:buFont typeface="Calibri"/>
              <a:buChar char="●"/>
            </a:pPr>
            <a:r>
              <a:rPr lang="en-US" sz="105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Validation accuracy looked high: 83.3% for 3 models</a:t>
            </a:r>
            <a:endParaRPr sz="1050">
              <a:solidFill>
                <a:srgbClr val="E8ED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050"/>
              <a:buFont typeface="Calibri"/>
              <a:buChar char="●"/>
            </a:pPr>
            <a:r>
              <a:rPr lang="en-US" sz="105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Test exact accuracy was much lower: 13–24.7%</a:t>
            </a:r>
            <a:endParaRPr sz="1050">
              <a:solidFill>
                <a:srgbClr val="E8ED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050"/>
              <a:buFont typeface="Calibri"/>
              <a:buChar char="●"/>
            </a:pPr>
            <a:r>
              <a:rPr lang="en-US" sz="105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This suggests overfitting; the seed prompt often beat the GEPA-best prompt on the held-out test set</a:t>
            </a:r>
            <a:endParaRPr sz="1050">
              <a:solidFill>
                <a:srgbClr val="E8ED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4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365760" y="73152"/>
            <a:ext cx="82296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3 - </a:t>
            </a: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Quadratic Weighted Kappa - a more comprehensive analysis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4"/>
          <p:cNvSpPr txBox="1"/>
          <p:nvPr/>
        </p:nvSpPr>
        <p:spPr>
          <a:xfrm>
            <a:off x="608450" y="856500"/>
            <a:ext cx="77442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QWK</a:t>
            </a:r>
            <a:r>
              <a:rPr lang="en-US"/>
              <a:t> measures agreement between two raters on an </a:t>
            </a:r>
            <a:r>
              <a:rPr b="1" lang="en-US"/>
              <a:t>ordered</a:t>
            </a:r>
            <a:r>
              <a:rPr lang="en-US"/>
              <a:t> scale while accounting for agreement that could happen by chance. It penalizes larger disagreements more heavily than small ones, so predicting confidence 3 instead of 4 is treated as much less severe than predicting 1 instead of 4.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RMSE: average size of numeric prediction errors in the original score units, with bigger errors penalized more because errors are squared.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QWK: </a:t>
            </a:r>
            <a:r>
              <a:rPr lang="en-US"/>
              <a:t> measures agreement on an ordered rating scale relative to chance agreement.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RMSE answers “how far off are the predictions?”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QWK answers “how well do predictions agree with gold labels, accounting for label distribution and chance?”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We are doing QWK respectively to “direction” and “confidence”, then sum them together.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5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5"/>
          <p:cNvSpPr/>
          <p:nvPr/>
        </p:nvSpPr>
        <p:spPr>
          <a:xfrm>
            <a:off x="365760" y="73152"/>
            <a:ext cx="82296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3 - Quadratic Weighted Kappa - a more comprehensive analysis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0" y="640080"/>
            <a:ext cx="9144000" cy="549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5" name="Google Shape;35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100" y="1772502"/>
            <a:ext cx="2313800" cy="102977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5"/>
          <p:cNvSpPr txBox="1"/>
          <p:nvPr/>
        </p:nvSpPr>
        <p:spPr>
          <a:xfrm>
            <a:off x="0" y="790688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P</a:t>
            </a:r>
            <a:r>
              <a:rPr lang="en-US"/>
              <a:t>redictions and labels are combined linearly as a vector across articles</a:t>
            </a:r>
            <a:endParaRPr/>
          </a:p>
        </p:txBody>
      </p:sp>
      <p:sp>
        <p:nvSpPr>
          <p:cNvPr id="357" name="Google Shape;357;p15"/>
          <p:cNvSpPr txBox="1"/>
          <p:nvPr/>
        </p:nvSpPr>
        <p:spPr>
          <a:xfrm>
            <a:off x="147675" y="30642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   Build a confusion matrix                </a:t>
            </a:r>
            <a:endParaRPr/>
          </a:p>
        </p:txBody>
      </p:sp>
      <p:pic>
        <p:nvPicPr>
          <p:cNvPr id="358" name="Google Shape;35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100" y="3607665"/>
            <a:ext cx="3000001" cy="989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90550" y="694975"/>
            <a:ext cx="2670675" cy="1186675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5"/>
          <p:cNvSpPr txBox="1"/>
          <p:nvPr/>
        </p:nvSpPr>
        <p:spPr>
          <a:xfrm>
            <a:off x="3613638" y="1145738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   Build a </a:t>
            </a:r>
            <a:r>
              <a:rPr lang="en-US"/>
              <a:t>weight</a:t>
            </a:r>
            <a:r>
              <a:rPr lang="en-US"/>
              <a:t> matrix                </a:t>
            </a:r>
            <a:endParaRPr/>
          </a:p>
        </p:txBody>
      </p:sp>
      <p:sp>
        <p:nvSpPr>
          <p:cNvPr id="361" name="Google Shape;361;p15"/>
          <p:cNvSpPr txBox="1"/>
          <p:nvPr/>
        </p:nvSpPr>
        <p:spPr>
          <a:xfrm>
            <a:off x="3613650" y="2051500"/>
            <a:ext cx="5619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4. Expected Matrix - estimates what the confusion matrix would look like under chance agreement, while preserving the gold and prediction label distributions.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First compute row and column totals: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Then:</a:t>
            </a:r>
            <a:endParaRPr/>
          </a:p>
        </p:txBody>
      </p:sp>
      <p:pic>
        <p:nvPicPr>
          <p:cNvPr id="362" name="Google Shape;362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96925" y="2693875"/>
            <a:ext cx="2164308" cy="175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37301" y="3529000"/>
            <a:ext cx="25527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09800" y="240525"/>
            <a:ext cx="7124375" cy="454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6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6"/>
          <p:cNvSpPr/>
          <p:nvPr/>
        </p:nvSpPr>
        <p:spPr>
          <a:xfrm>
            <a:off x="365760" y="73152"/>
            <a:ext cx="82296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QWK — SEED VS GEPA-BEST PROMPT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6"/>
          <p:cNvSpPr/>
          <p:nvPr/>
        </p:nvSpPr>
        <p:spPr>
          <a:xfrm>
            <a:off x="0" y="640080"/>
            <a:ext cx="9144000" cy="549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6"/>
          <p:cNvSpPr/>
          <p:nvPr/>
        </p:nvSpPr>
        <p:spPr>
          <a:xfrm>
            <a:off x="6858000" y="4796028"/>
            <a:ext cx="219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QWK Seed vs Best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4" name="Google Shape;3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550" y="707216"/>
            <a:ext cx="72009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16"/>
          <p:cNvSpPr/>
          <p:nvPr/>
        </p:nvSpPr>
        <p:spPr>
          <a:xfrm>
            <a:off x="7242125" y="2523404"/>
            <a:ext cx="539100" cy="170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6"/>
          <p:cNvSpPr/>
          <p:nvPr/>
        </p:nvSpPr>
        <p:spPr>
          <a:xfrm>
            <a:off x="3983242" y="4441806"/>
            <a:ext cx="539100" cy="170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6"/>
          <p:cNvSpPr/>
          <p:nvPr/>
        </p:nvSpPr>
        <p:spPr>
          <a:xfrm>
            <a:off x="7242125" y="3796092"/>
            <a:ext cx="539100" cy="170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7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7"/>
          <p:cNvSpPr/>
          <p:nvPr/>
        </p:nvSpPr>
        <p:spPr>
          <a:xfrm>
            <a:off x="365760" y="73152"/>
            <a:ext cx="82296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QWK — SEED VS GEPA-BEST PROMPT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7"/>
          <p:cNvSpPr/>
          <p:nvPr/>
        </p:nvSpPr>
        <p:spPr>
          <a:xfrm>
            <a:off x="0" y="640080"/>
            <a:ext cx="9144000" cy="549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7"/>
          <p:cNvSpPr/>
          <p:nvPr/>
        </p:nvSpPr>
        <p:spPr>
          <a:xfrm>
            <a:off x="365760" y="822960"/>
            <a:ext cx="2560200" cy="1005900"/>
          </a:xfrm>
          <a:prstGeom prst="rect">
            <a:avLst/>
          </a:prstGeom>
          <a:solidFill>
            <a:srgbClr val="2ECC71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7"/>
          <p:cNvSpPr/>
          <p:nvPr/>
        </p:nvSpPr>
        <p:spPr>
          <a:xfrm>
            <a:off x="365760" y="822960"/>
            <a:ext cx="256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/ 14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7"/>
          <p:cNvSpPr/>
          <p:nvPr/>
        </p:nvSpPr>
        <p:spPr>
          <a:xfrm>
            <a:off x="365760" y="1463040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Improved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7"/>
          <p:cNvSpPr/>
          <p:nvPr/>
        </p:nvSpPr>
        <p:spPr>
          <a:xfrm>
            <a:off x="3200400" y="822960"/>
            <a:ext cx="2560200" cy="10059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7"/>
          <p:cNvSpPr/>
          <p:nvPr/>
        </p:nvSpPr>
        <p:spPr>
          <a:xfrm>
            <a:off x="3200400" y="822960"/>
            <a:ext cx="256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/ 14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7"/>
          <p:cNvSpPr/>
          <p:nvPr/>
        </p:nvSpPr>
        <p:spPr>
          <a:xfrm>
            <a:off x="3200400" y="1463040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Unchanged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7"/>
          <p:cNvSpPr/>
          <p:nvPr/>
        </p:nvSpPr>
        <p:spPr>
          <a:xfrm>
            <a:off x="6035040" y="822960"/>
            <a:ext cx="2560200" cy="100590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7"/>
          <p:cNvSpPr/>
          <p:nvPr/>
        </p:nvSpPr>
        <p:spPr>
          <a:xfrm>
            <a:off x="6035040" y="822960"/>
            <a:ext cx="256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 / 14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7"/>
          <p:cNvSpPr/>
          <p:nvPr/>
        </p:nvSpPr>
        <p:spPr>
          <a:xfrm>
            <a:off x="6035040" y="1463040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Declined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7"/>
          <p:cNvSpPr/>
          <p:nvPr/>
        </p:nvSpPr>
        <p:spPr>
          <a:xfrm>
            <a:off x="365760" y="1920240"/>
            <a:ext cx="8412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Combined QWK (Direction + Confidence) — 14 comparisons with both seed &amp; best available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7"/>
          <p:cNvSpPr/>
          <p:nvPr/>
        </p:nvSpPr>
        <p:spPr>
          <a:xfrm>
            <a:off x="365760" y="2286000"/>
            <a:ext cx="8412600" cy="1234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7"/>
          <p:cNvSpPr/>
          <p:nvPr/>
        </p:nvSpPr>
        <p:spPr>
          <a:xfrm>
            <a:off x="365760" y="2286000"/>
            <a:ext cx="63900" cy="12345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7"/>
          <p:cNvSpPr/>
          <p:nvPr/>
        </p:nvSpPr>
        <p:spPr>
          <a:xfrm>
            <a:off x="548640" y="233172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Key Pattern: Direction–Confidence Tradeoff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7"/>
          <p:cNvSpPr/>
          <p:nvPr/>
        </p:nvSpPr>
        <p:spPr>
          <a:xfrm>
            <a:off x="548640" y="2651760"/>
            <a:ext cx="80466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GEPA prompts often improved direction QWK while hurting confidence QWK.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Example: GPT-OSS + Qwen prompt → Dir +0.088 but Conf −0.341 (sum −0.252)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7"/>
          <p:cNvSpPr/>
          <p:nvPr/>
        </p:nvSpPr>
        <p:spPr>
          <a:xfrm>
            <a:off x="365760" y="3657600"/>
            <a:ext cx="2560200" cy="118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7"/>
          <p:cNvSpPr/>
          <p:nvPr/>
        </p:nvSpPr>
        <p:spPr>
          <a:xfrm>
            <a:off x="365760" y="3657600"/>
            <a:ext cx="2560200" cy="320100"/>
          </a:xfrm>
          <a:prstGeom prst="rect">
            <a:avLst/>
          </a:prstGeom>
          <a:solidFill>
            <a:srgbClr val="2ECC71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7"/>
          <p:cNvSpPr/>
          <p:nvPr/>
        </p:nvSpPr>
        <p:spPr>
          <a:xfrm>
            <a:off x="365760" y="3657600"/>
            <a:ext cx="256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1.433 best sum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7"/>
          <p:cNvSpPr/>
          <p:nvPr/>
        </p:nvSpPr>
        <p:spPr>
          <a:xfrm>
            <a:off x="438912" y="4005072"/>
            <a:ext cx="24231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Qwen task + GPT-OSS seed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7"/>
          <p:cNvSpPr/>
          <p:nvPr/>
        </p:nvSpPr>
        <p:spPr>
          <a:xfrm>
            <a:off x="3200400" y="3657600"/>
            <a:ext cx="2560200" cy="118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7"/>
          <p:cNvSpPr/>
          <p:nvPr/>
        </p:nvSpPr>
        <p:spPr>
          <a:xfrm>
            <a:off x="3200400" y="3657600"/>
            <a:ext cx="2560200" cy="3201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7"/>
          <p:cNvSpPr/>
          <p:nvPr/>
        </p:nvSpPr>
        <p:spPr>
          <a:xfrm>
            <a:off x="3200400" y="3657600"/>
            <a:ext cx="256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+0.128 Δ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7"/>
          <p:cNvSpPr/>
          <p:nvPr/>
        </p:nvSpPr>
        <p:spPr>
          <a:xfrm>
            <a:off x="3273552" y="4005072"/>
            <a:ext cx="24231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Gemma task + Gemma source 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7"/>
          <p:cNvSpPr/>
          <p:nvPr/>
        </p:nvSpPr>
        <p:spPr>
          <a:xfrm>
            <a:off x="6035040" y="3657600"/>
            <a:ext cx="2560200" cy="118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7"/>
          <p:cNvSpPr/>
          <p:nvPr/>
        </p:nvSpPr>
        <p:spPr>
          <a:xfrm>
            <a:off x="6035040" y="3657600"/>
            <a:ext cx="2560200" cy="32010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7"/>
          <p:cNvSpPr/>
          <p:nvPr/>
        </p:nvSpPr>
        <p:spPr>
          <a:xfrm>
            <a:off x="6035040" y="3657600"/>
            <a:ext cx="256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−0.252 Δ worst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7"/>
          <p:cNvSpPr/>
          <p:nvPr/>
        </p:nvSpPr>
        <p:spPr>
          <a:xfrm>
            <a:off x="6858000" y="4796028"/>
            <a:ext cx="219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QWK Seed vs Best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7"/>
          <p:cNvSpPr/>
          <p:nvPr/>
        </p:nvSpPr>
        <p:spPr>
          <a:xfrm>
            <a:off x="6099002" y="4005072"/>
            <a:ext cx="24231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GPT-OSS + Qwen prompt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8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8"/>
          <p:cNvSpPr/>
          <p:nvPr/>
        </p:nvSpPr>
        <p:spPr>
          <a:xfrm>
            <a:off x="365760" y="73152"/>
            <a:ext cx="82296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QWK — OVERALL MODEL </a:t>
            </a: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8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8"/>
          <p:cNvSpPr/>
          <p:nvPr/>
        </p:nvSpPr>
        <p:spPr>
          <a:xfrm>
            <a:off x="320040" y="75895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Direction QWK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2" name="Google Shape;422;p18"/>
          <p:cNvCxnSpPr/>
          <p:nvPr/>
        </p:nvCxnSpPr>
        <p:spPr>
          <a:xfrm>
            <a:off x="320040" y="1033272"/>
            <a:ext cx="0" cy="2423160"/>
          </a:xfrm>
          <a:prstGeom prst="straightConnector1">
            <a:avLst/>
          </a:prstGeom>
          <a:noFill/>
          <a:ln cap="flat" cmpd="sng" w="19050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3" name="Google Shape;423;p18"/>
          <p:cNvSpPr/>
          <p:nvPr/>
        </p:nvSpPr>
        <p:spPr>
          <a:xfrm>
            <a:off x="155448" y="3474720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4" name="Google Shape;424;p18"/>
          <p:cNvCxnSpPr/>
          <p:nvPr/>
        </p:nvCxnSpPr>
        <p:spPr>
          <a:xfrm>
            <a:off x="896112" y="1033272"/>
            <a:ext cx="0" cy="2423160"/>
          </a:xfrm>
          <a:prstGeom prst="straightConnector1">
            <a:avLst/>
          </a:prstGeom>
          <a:noFill/>
          <a:ln cap="flat" cmpd="sng" w="9525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5" name="Google Shape;425;p18"/>
          <p:cNvSpPr/>
          <p:nvPr/>
        </p:nvSpPr>
        <p:spPr>
          <a:xfrm>
            <a:off x="731520" y="3474720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6" name="Google Shape;426;p18"/>
          <p:cNvCxnSpPr/>
          <p:nvPr/>
        </p:nvCxnSpPr>
        <p:spPr>
          <a:xfrm>
            <a:off x="1472184" y="1033272"/>
            <a:ext cx="0" cy="2423160"/>
          </a:xfrm>
          <a:prstGeom prst="straightConnector1">
            <a:avLst/>
          </a:prstGeom>
          <a:noFill/>
          <a:ln cap="flat" cmpd="sng" w="9525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7" name="Google Shape;427;p18"/>
          <p:cNvSpPr/>
          <p:nvPr/>
        </p:nvSpPr>
        <p:spPr>
          <a:xfrm>
            <a:off x="1307592" y="3474720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0.4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8" name="Google Shape;428;p18"/>
          <p:cNvCxnSpPr/>
          <p:nvPr/>
        </p:nvCxnSpPr>
        <p:spPr>
          <a:xfrm>
            <a:off x="2048256" y="1033272"/>
            <a:ext cx="0" cy="2423160"/>
          </a:xfrm>
          <a:prstGeom prst="straightConnector1">
            <a:avLst/>
          </a:prstGeom>
          <a:noFill/>
          <a:ln cap="flat" cmpd="sng" w="9525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9" name="Google Shape;429;p18"/>
          <p:cNvSpPr/>
          <p:nvPr/>
        </p:nvSpPr>
        <p:spPr>
          <a:xfrm>
            <a:off x="1883664" y="3474720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0" name="Google Shape;430;p18"/>
          <p:cNvCxnSpPr/>
          <p:nvPr/>
        </p:nvCxnSpPr>
        <p:spPr>
          <a:xfrm>
            <a:off x="2624328" y="1033272"/>
            <a:ext cx="0" cy="2423160"/>
          </a:xfrm>
          <a:prstGeom prst="straightConnector1">
            <a:avLst/>
          </a:prstGeom>
          <a:noFill/>
          <a:ln cap="flat" cmpd="sng" w="9525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1" name="Google Shape;431;p18"/>
          <p:cNvSpPr/>
          <p:nvPr/>
        </p:nvSpPr>
        <p:spPr>
          <a:xfrm>
            <a:off x="2459736" y="3474720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0.8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2" name="Google Shape;432;p18"/>
          <p:cNvCxnSpPr/>
          <p:nvPr/>
        </p:nvCxnSpPr>
        <p:spPr>
          <a:xfrm>
            <a:off x="3200400" y="1033272"/>
            <a:ext cx="0" cy="2423160"/>
          </a:xfrm>
          <a:prstGeom prst="straightConnector1">
            <a:avLst/>
          </a:prstGeom>
          <a:noFill/>
          <a:ln cap="flat" cmpd="sng" w="9525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3" name="Google Shape;433;p18"/>
          <p:cNvSpPr/>
          <p:nvPr/>
        </p:nvSpPr>
        <p:spPr>
          <a:xfrm>
            <a:off x="3035808" y="3474720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8"/>
          <p:cNvSpPr/>
          <p:nvPr/>
        </p:nvSpPr>
        <p:spPr>
          <a:xfrm>
            <a:off x="320040" y="1051560"/>
            <a:ext cx="2514554" cy="384048"/>
          </a:xfrm>
          <a:prstGeom prst="rect">
            <a:avLst/>
          </a:prstGeom>
          <a:solidFill>
            <a:srgbClr val="F7931A"/>
          </a:solidFill>
          <a:ln cap="flat" cmpd="sng" w="12700">
            <a:solidFill>
              <a:srgbClr val="F793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8"/>
          <p:cNvSpPr/>
          <p:nvPr/>
        </p:nvSpPr>
        <p:spPr>
          <a:xfrm>
            <a:off x="405384" y="1051560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Claude 4.6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8"/>
          <p:cNvSpPr/>
          <p:nvPr/>
        </p:nvSpPr>
        <p:spPr>
          <a:xfrm>
            <a:off x="2871170" y="1051560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0.873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8"/>
          <p:cNvSpPr/>
          <p:nvPr/>
        </p:nvSpPr>
        <p:spPr>
          <a:xfrm>
            <a:off x="320040" y="1572768"/>
            <a:ext cx="1831909" cy="384048"/>
          </a:xfrm>
          <a:prstGeom prst="rect">
            <a:avLst/>
          </a:prstGeom>
          <a:solidFill>
            <a:srgbClr val="9B59B6"/>
          </a:solidFill>
          <a:ln cap="flat" cmpd="sng" w="1270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8"/>
          <p:cNvSpPr/>
          <p:nvPr/>
        </p:nvSpPr>
        <p:spPr>
          <a:xfrm>
            <a:off x="405384" y="1572768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Gemma E2B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8"/>
          <p:cNvSpPr/>
          <p:nvPr/>
        </p:nvSpPr>
        <p:spPr>
          <a:xfrm>
            <a:off x="2188525" y="1572768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0.636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8"/>
          <p:cNvSpPr/>
          <p:nvPr/>
        </p:nvSpPr>
        <p:spPr>
          <a:xfrm>
            <a:off x="320040" y="2093976"/>
            <a:ext cx="2281245" cy="384048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8"/>
          <p:cNvSpPr/>
          <p:nvPr/>
        </p:nvSpPr>
        <p:spPr>
          <a:xfrm>
            <a:off x="405384" y="2093976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GPT-OSS 120B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8"/>
          <p:cNvSpPr/>
          <p:nvPr/>
        </p:nvSpPr>
        <p:spPr>
          <a:xfrm>
            <a:off x="2637861" y="2093976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0.792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8"/>
          <p:cNvSpPr/>
          <p:nvPr/>
        </p:nvSpPr>
        <p:spPr>
          <a:xfrm>
            <a:off x="320040" y="2615184"/>
            <a:ext cx="2287006" cy="384048"/>
          </a:xfrm>
          <a:prstGeom prst="rect">
            <a:avLst/>
          </a:prstGeom>
          <a:solidFill>
            <a:srgbClr val="2ECC71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8"/>
          <p:cNvSpPr/>
          <p:nvPr/>
        </p:nvSpPr>
        <p:spPr>
          <a:xfrm>
            <a:off x="405384" y="2615184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Qwen 3.6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8"/>
          <p:cNvSpPr/>
          <p:nvPr/>
        </p:nvSpPr>
        <p:spPr>
          <a:xfrm>
            <a:off x="2643622" y="2615184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0.794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8"/>
          <p:cNvSpPr/>
          <p:nvPr/>
        </p:nvSpPr>
        <p:spPr>
          <a:xfrm>
            <a:off x="4754880" y="758952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Confidence QWK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7" name="Google Shape;447;p18"/>
          <p:cNvCxnSpPr/>
          <p:nvPr/>
        </p:nvCxnSpPr>
        <p:spPr>
          <a:xfrm>
            <a:off x="4754880" y="1033272"/>
            <a:ext cx="0" cy="2423160"/>
          </a:xfrm>
          <a:prstGeom prst="straightConnector1">
            <a:avLst/>
          </a:prstGeom>
          <a:noFill/>
          <a:ln cap="flat" cmpd="sng" w="19050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8" name="Google Shape;448;p18"/>
          <p:cNvSpPr/>
          <p:nvPr/>
        </p:nvSpPr>
        <p:spPr>
          <a:xfrm>
            <a:off x="4590288" y="3474720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9" name="Google Shape;449;p18"/>
          <p:cNvCxnSpPr/>
          <p:nvPr/>
        </p:nvCxnSpPr>
        <p:spPr>
          <a:xfrm>
            <a:off x="5760720" y="1033272"/>
            <a:ext cx="0" cy="2423160"/>
          </a:xfrm>
          <a:prstGeom prst="straightConnector1">
            <a:avLst/>
          </a:prstGeom>
          <a:noFill/>
          <a:ln cap="flat" cmpd="sng" w="9525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0" name="Google Shape;450;p18"/>
          <p:cNvSpPr/>
          <p:nvPr/>
        </p:nvSpPr>
        <p:spPr>
          <a:xfrm>
            <a:off x="5596128" y="3474720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1" name="Google Shape;451;p18"/>
          <p:cNvCxnSpPr/>
          <p:nvPr/>
        </p:nvCxnSpPr>
        <p:spPr>
          <a:xfrm>
            <a:off x="6766560" y="1033272"/>
            <a:ext cx="0" cy="2423160"/>
          </a:xfrm>
          <a:prstGeom prst="straightConnector1">
            <a:avLst/>
          </a:prstGeom>
          <a:noFill/>
          <a:ln cap="flat" cmpd="sng" w="9525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2" name="Google Shape;452;p18"/>
          <p:cNvSpPr/>
          <p:nvPr/>
        </p:nvSpPr>
        <p:spPr>
          <a:xfrm>
            <a:off x="6601968" y="3474720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3" name="Google Shape;453;p18"/>
          <p:cNvCxnSpPr/>
          <p:nvPr/>
        </p:nvCxnSpPr>
        <p:spPr>
          <a:xfrm>
            <a:off x="7772400" y="1033272"/>
            <a:ext cx="0" cy="2423160"/>
          </a:xfrm>
          <a:prstGeom prst="straightConnector1">
            <a:avLst/>
          </a:prstGeom>
          <a:noFill/>
          <a:ln cap="flat" cmpd="sng" w="9525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4" name="Google Shape;454;p18"/>
          <p:cNvSpPr/>
          <p:nvPr/>
        </p:nvSpPr>
        <p:spPr>
          <a:xfrm>
            <a:off x="7607808" y="3474720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0.3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5" name="Google Shape;455;p18"/>
          <p:cNvCxnSpPr/>
          <p:nvPr/>
        </p:nvCxnSpPr>
        <p:spPr>
          <a:xfrm>
            <a:off x="8778240" y="1033272"/>
            <a:ext cx="0" cy="2423160"/>
          </a:xfrm>
          <a:prstGeom prst="straightConnector1">
            <a:avLst/>
          </a:prstGeom>
          <a:noFill/>
          <a:ln cap="flat" cmpd="sng" w="9525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6" name="Google Shape;456;p18"/>
          <p:cNvSpPr/>
          <p:nvPr/>
        </p:nvSpPr>
        <p:spPr>
          <a:xfrm>
            <a:off x="8613648" y="3474720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0.4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8"/>
          <p:cNvSpPr/>
          <p:nvPr/>
        </p:nvSpPr>
        <p:spPr>
          <a:xfrm>
            <a:off x="4754880" y="1051560"/>
            <a:ext cx="1378001" cy="384048"/>
          </a:xfrm>
          <a:prstGeom prst="rect">
            <a:avLst/>
          </a:prstGeom>
          <a:solidFill>
            <a:srgbClr val="F7931A"/>
          </a:solidFill>
          <a:ln cap="flat" cmpd="sng" w="12700">
            <a:solidFill>
              <a:srgbClr val="F793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8"/>
          <p:cNvSpPr/>
          <p:nvPr/>
        </p:nvSpPr>
        <p:spPr>
          <a:xfrm>
            <a:off x="4840224" y="1051560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Claude 4.6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8"/>
          <p:cNvSpPr/>
          <p:nvPr/>
        </p:nvSpPr>
        <p:spPr>
          <a:xfrm>
            <a:off x="6169457" y="1051560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0.137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8"/>
          <p:cNvSpPr/>
          <p:nvPr/>
        </p:nvSpPr>
        <p:spPr>
          <a:xfrm>
            <a:off x="4754880" y="1572768"/>
            <a:ext cx="3399739" cy="384048"/>
          </a:xfrm>
          <a:prstGeom prst="rect">
            <a:avLst/>
          </a:prstGeom>
          <a:solidFill>
            <a:srgbClr val="9B59B6"/>
          </a:solidFill>
          <a:ln cap="flat" cmpd="sng" w="1270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8"/>
          <p:cNvSpPr/>
          <p:nvPr/>
        </p:nvSpPr>
        <p:spPr>
          <a:xfrm>
            <a:off x="4840224" y="1572768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Gemma E2B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8"/>
          <p:cNvSpPr/>
          <p:nvPr/>
        </p:nvSpPr>
        <p:spPr>
          <a:xfrm>
            <a:off x="8191195" y="1572768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0.338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8"/>
          <p:cNvSpPr/>
          <p:nvPr/>
        </p:nvSpPr>
        <p:spPr>
          <a:xfrm>
            <a:off x="4754880" y="2093976"/>
            <a:ext cx="2715768" cy="384048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8"/>
          <p:cNvSpPr/>
          <p:nvPr/>
        </p:nvSpPr>
        <p:spPr>
          <a:xfrm>
            <a:off x="4840224" y="2093976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GPT-OSS 120B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8"/>
          <p:cNvSpPr/>
          <p:nvPr/>
        </p:nvSpPr>
        <p:spPr>
          <a:xfrm>
            <a:off x="7507224" y="2093976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0.270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8"/>
          <p:cNvSpPr/>
          <p:nvPr/>
        </p:nvSpPr>
        <p:spPr>
          <a:xfrm>
            <a:off x="4754880" y="2615184"/>
            <a:ext cx="3872484" cy="384048"/>
          </a:xfrm>
          <a:prstGeom prst="rect">
            <a:avLst/>
          </a:prstGeom>
          <a:solidFill>
            <a:srgbClr val="2ECC71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8"/>
          <p:cNvSpPr/>
          <p:nvPr/>
        </p:nvSpPr>
        <p:spPr>
          <a:xfrm>
            <a:off x="4840224" y="2615184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Qwen 3.6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8"/>
          <p:cNvSpPr/>
          <p:nvPr/>
        </p:nvSpPr>
        <p:spPr>
          <a:xfrm>
            <a:off x="9761220" y="2615184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0.385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8"/>
          <p:cNvSpPr/>
          <p:nvPr/>
        </p:nvSpPr>
        <p:spPr>
          <a:xfrm>
            <a:off x="320040" y="3840480"/>
            <a:ext cx="8503920" cy="347472"/>
          </a:xfrm>
          <a:prstGeom prst="rect">
            <a:avLst/>
          </a:prstGeom>
          <a:solidFill>
            <a:srgbClr val="1B2A3B"/>
          </a:solidFill>
          <a:ln cap="flat" cmpd="sng" w="12700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8"/>
          <p:cNvSpPr/>
          <p:nvPr/>
        </p:nvSpPr>
        <p:spPr>
          <a:xfrm>
            <a:off x="457200" y="3840480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Qwen 3.6 wins combined QWK (1.178) — best confidence (0.385) + competitive direction (0.794)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8"/>
          <p:cNvSpPr/>
          <p:nvPr/>
        </p:nvSpPr>
        <p:spPr>
          <a:xfrm>
            <a:off x="320040" y="4251960"/>
            <a:ext cx="8503920" cy="347472"/>
          </a:xfrm>
          <a:prstGeom prst="rect">
            <a:avLst/>
          </a:prstGeom>
          <a:solidFill>
            <a:srgbClr val="1B2A3B"/>
          </a:solidFill>
          <a:ln cap="flat" cmpd="sng" w="12700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8"/>
          <p:cNvSpPr/>
          <p:nvPr/>
        </p:nvSpPr>
        <p:spPr>
          <a:xfrm>
            <a:off x="457200" y="4251960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 Claude leads direction (0.873) but low confidence (0.137) — alignment compresses scores toward band center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8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1B2A3B"/>
          </a:solidFill>
          <a:ln cap="flat" cmpd="sng" w="12700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8"/>
          <p:cNvSpPr/>
          <p:nvPr/>
        </p:nvSpPr>
        <p:spPr>
          <a:xfrm>
            <a:off x="457200" y="4663440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 Gemma: perfect parse coverage but lowest combined QWK — formatting ≠ label agreement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8"/>
          <p:cNvSpPr/>
          <p:nvPr/>
        </p:nvSpPr>
        <p:spPr>
          <a:xfrm>
            <a:off x="6858000" y="479602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QWK Per Model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8"/>
          <p:cNvSpPr/>
          <p:nvPr/>
        </p:nvSpPr>
        <p:spPr>
          <a:xfrm>
            <a:off x="8191199" y="2615201"/>
            <a:ext cx="457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0.</a:t>
            </a:r>
            <a:r>
              <a:rPr lang="en-US" sz="95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385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9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9"/>
          <p:cNvSpPr/>
          <p:nvPr/>
        </p:nvSpPr>
        <p:spPr>
          <a:xfrm>
            <a:off x="365760" y="73152"/>
            <a:ext cx="82296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DISCUSSION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9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9"/>
          <p:cNvSpPr/>
          <p:nvPr/>
        </p:nvSpPr>
        <p:spPr>
          <a:xfrm>
            <a:off x="297178" y="1863503"/>
            <a:ext cx="4114800" cy="187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9"/>
          <p:cNvSpPr/>
          <p:nvPr/>
        </p:nvSpPr>
        <p:spPr>
          <a:xfrm>
            <a:off x="297178" y="1863503"/>
            <a:ext cx="4114800" cy="384000"/>
          </a:xfrm>
          <a:prstGeom prst="rect">
            <a:avLst/>
          </a:prstGeom>
          <a:solidFill>
            <a:srgbClr val="2ECC71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9"/>
          <p:cNvSpPr/>
          <p:nvPr/>
        </p:nvSpPr>
        <p:spPr>
          <a:xfrm>
            <a:off x="388617" y="1863503"/>
            <a:ext cx="393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Qwen Won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9"/>
          <p:cNvSpPr/>
          <p:nvPr/>
        </p:nvSpPr>
        <p:spPr>
          <a:xfrm>
            <a:off x="388617" y="2302415"/>
            <a:ext cx="3931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Qwen's reasoning-oriented design (thinking budget, explicit chain-of-thought) helps track multiple evidence pieces to produce graded confidence scores.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9"/>
          <p:cNvSpPr/>
          <p:nvPr/>
        </p:nvSpPr>
        <p:spPr>
          <a:xfrm>
            <a:off x="4732018" y="1863503"/>
            <a:ext cx="4114800" cy="187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9"/>
          <p:cNvSpPr/>
          <p:nvPr/>
        </p:nvSpPr>
        <p:spPr>
          <a:xfrm>
            <a:off x="4732018" y="1863503"/>
            <a:ext cx="4114800" cy="384000"/>
          </a:xfrm>
          <a:prstGeom prst="rect">
            <a:avLst/>
          </a:prstGeom>
          <a:solidFill>
            <a:srgbClr val="F7931A"/>
          </a:solidFill>
          <a:ln cap="flat" cmpd="sng" w="12700">
            <a:solidFill>
              <a:srgbClr val="F793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9"/>
          <p:cNvSpPr/>
          <p:nvPr/>
        </p:nvSpPr>
        <p:spPr>
          <a:xfrm>
            <a:off x="4823458" y="1863503"/>
            <a:ext cx="393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Claude Compressed Confidence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9"/>
          <p:cNvSpPr/>
          <p:nvPr/>
        </p:nvSpPr>
        <p:spPr>
          <a:xfrm>
            <a:off x="4823458" y="2302415"/>
            <a:ext cx="3931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Heavy post-training for safety &amp; alignment makes Claude conservative around hedged financial language, compressing scores toward the middle of each band.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9"/>
          <p:cNvSpPr/>
          <p:nvPr/>
        </p:nvSpPr>
        <p:spPr>
          <a:xfrm>
            <a:off x="6858000" y="479602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Discussion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0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0"/>
          <p:cNvSpPr/>
          <p:nvPr/>
        </p:nvSpPr>
        <p:spPr>
          <a:xfrm>
            <a:off x="365760" y="73152"/>
            <a:ext cx="82296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0"/>
          <p:cNvSpPr/>
          <p:nvPr/>
        </p:nvSpPr>
        <p:spPr>
          <a:xfrm>
            <a:off x="0" y="640080"/>
            <a:ext cx="9144000" cy="549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0"/>
          <p:cNvSpPr/>
          <p:nvPr/>
        </p:nvSpPr>
        <p:spPr>
          <a:xfrm>
            <a:off x="6858000" y="4796028"/>
            <a:ext cx="219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Evolution Tree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0"/>
          <p:cNvSpPr txBox="1"/>
          <p:nvPr/>
        </p:nvSpPr>
        <p:spPr>
          <a:xfrm>
            <a:off x="294450" y="1553990"/>
            <a:ext cx="8555100" cy="25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/>
              <a:t>Did it work?</a:t>
            </a:r>
            <a:endParaRPr b="1" sz="3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3400"/>
            </a:br>
            <a:r>
              <a:rPr b="1" lang="en-US" sz="3400"/>
              <a:t>Can the system measurably predict Bitcoin prices?</a:t>
            </a:r>
            <a:endParaRPr b="1" sz="3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1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1"/>
          <p:cNvSpPr/>
          <p:nvPr/>
        </p:nvSpPr>
        <p:spPr>
          <a:xfrm>
            <a:off x="365760" y="73152"/>
            <a:ext cx="82296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AUTHOR TRUSTWORTHINESS — METHOD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1"/>
          <p:cNvSpPr/>
          <p:nvPr/>
        </p:nvSpPr>
        <p:spPr>
          <a:xfrm>
            <a:off x="0" y="640080"/>
            <a:ext cx="9144000" cy="549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1"/>
          <p:cNvSpPr/>
          <p:nvPr/>
        </p:nvSpPr>
        <p:spPr>
          <a:xfrm>
            <a:off x="228533" y="1613885"/>
            <a:ext cx="1554600" cy="10059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1"/>
          <p:cNvSpPr/>
          <p:nvPr/>
        </p:nvSpPr>
        <p:spPr>
          <a:xfrm>
            <a:off x="228533" y="1613885"/>
            <a:ext cx="1554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 Articles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(same author)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1"/>
          <p:cNvSpPr/>
          <p:nvPr/>
        </p:nvSpPr>
        <p:spPr>
          <a:xfrm>
            <a:off x="1783013" y="1888205"/>
            <a:ext cx="18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1"/>
          <p:cNvSpPr/>
          <p:nvPr/>
        </p:nvSpPr>
        <p:spPr>
          <a:xfrm>
            <a:off x="1965892" y="1613885"/>
            <a:ext cx="1554600" cy="1005900"/>
          </a:xfrm>
          <a:prstGeom prst="rect">
            <a:avLst/>
          </a:prstGeom>
          <a:solidFill>
            <a:srgbClr val="2ECC71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1"/>
          <p:cNvSpPr/>
          <p:nvPr/>
        </p:nvSpPr>
        <p:spPr>
          <a:xfrm>
            <a:off x="1965892" y="1613885"/>
            <a:ext cx="1554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Qwen + GEPA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 → Score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1"/>
          <p:cNvSpPr/>
          <p:nvPr/>
        </p:nvSpPr>
        <p:spPr>
          <a:xfrm>
            <a:off x="3520373" y="1888205"/>
            <a:ext cx="18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1"/>
          <p:cNvSpPr/>
          <p:nvPr/>
        </p:nvSpPr>
        <p:spPr>
          <a:xfrm>
            <a:off x="3703253" y="1613885"/>
            <a:ext cx="1554600" cy="1005900"/>
          </a:xfrm>
          <a:prstGeom prst="rect">
            <a:avLst/>
          </a:prstGeom>
          <a:solidFill>
            <a:srgbClr val="9B59B6"/>
          </a:solidFill>
          <a:ln cap="flat" cmpd="sng" w="1270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1"/>
          <p:cNvSpPr/>
          <p:nvPr/>
        </p:nvSpPr>
        <p:spPr>
          <a:xfrm>
            <a:off x="3703253" y="1613885"/>
            <a:ext cx="1554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Coinbase API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hourly prices 30d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1"/>
          <p:cNvSpPr/>
          <p:nvPr/>
        </p:nvSpPr>
        <p:spPr>
          <a:xfrm>
            <a:off x="5257733" y="1888205"/>
            <a:ext cx="18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1"/>
          <p:cNvSpPr/>
          <p:nvPr/>
        </p:nvSpPr>
        <p:spPr>
          <a:xfrm>
            <a:off x="5440613" y="1613885"/>
            <a:ext cx="1554600" cy="10059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1"/>
          <p:cNvSpPr/>
          <p:nvPr/>
        </p:nvSpPr>
        <p:spPr>
          <a:xfrm>
            <a:off x="5440613" y="1613885"/>
            <a:ext cx="1554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Ratio Calculations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(Green vs Red)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1"/>
          <p:cNvSpPr/>
          <p:nvPr/>
        </p:nvSpPr>
        <p:spPr>
          <a:xfrm>
            <a:off x="6995093" y="1888205"/>
            <a:ext cx="18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1"/>
          <p:cNvSpPr/>
          <p:nvPr/>
        </p:nvSpPr>
        <p:spPr>
          <a:xfrm>
            <a:off x="7177973" y="1613885"/>
            <a:ext cx="1554600" cy="100590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1"/>
          <p:cNvSpPr/>
          <p:nvPr/>
        </p:nvSpPr>
        <p:spPr>
          <a:xfrm>
            <a:off x="7177973" y="1613885"/>
            <a:ext cx="1554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 Score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τ_simple &amp;  τ_weighted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1"/>
          <p:cNvSpPr/>
          <p:nvPr/>
        </p:nvSpPr>
        <p:spPr>
          <a:xfrm>
            <a:off x="6858000" y="4796028"/>
            <a:ext cx="219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Author Method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7" name="Google Shape;52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3150" y="2965860"/>
            <a:ext cx="3121269" cy="1763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2"/>
          <p:cNvSpPr/>
          <p:nvPr/>
        </p:nvSpPr>
        <p:spPr>
          <a:xfrm>
            <a:off x="365760" y="73152"/>
            <a:ext cx="82296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AUTHOR TRUSTWORTHINESS — METHOD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2"/>
          <p:cNvSpPr/>
          <p:nvPr/>
        </p:nvSpPr>
        <p:spPr>
          <a:xfrm>
            <a:off x="6858000" y="479602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Author Method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7" name="Google Shape;537;p22"/>
          <p:cNvPicPr preferRelativeResize="0"/>
          <p:nvPr/>
        </p:nvPicPr>
        <p:blipFill rotWithShape="1">
          <a:blip r:embed="rId3">
            <a:alphaModFix/>
          </a:blip>
          <a:srcRect b="14015" l="0" r="47995" t="0"/>
          <a:stretch/>
        </p:blipFill>
        <p:spPr>
          <a:xfrm>
            <a:off x="253702" y="1150263"/>
            <a:ext cx="3222616" cy="3367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22"/>
          <p:cNvPicPr preferRelativeResize="0"/>
          <p:nvPr/>
        </p:nvPicPr>
        <p:blipFill rotWithShape="1">
          <a:blip r:embed="rId4">
            <a:alphaModFix/>
          </a:blip>
          <a:srcRect b="5051" l="0" r="12188" t="0"/>
          <a:stretch/>
        </p:blipFill>
        <p:spPr>
          <a:xfrm>
            <a:off x="3979627" y="1345300"/>
            <a:ext cx="4982126" cy="3172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and white math equation&#10;&#10;AI-generated content may be incorrect." id="539" name="Google Shape;539;p22"/>
          <p:cNvPicPr preferRelativeResize="0"/>
          <p:nvPr/>
        </p:nvPicPr>
        <p:blipFill rotWithShape="1">
          <a:blip r:embed="rId5">
            <a:alphaModFix/>
          </a:blip>
          <a:srcRect b="4321" l="9882" r="14680" t="20531"/>
          <a:stretch/>
        </p:blipFill>
        <p:spPr>
          <a:xfrm>
            <a:off x="7573885" y="874858"/>
            <a:ext cx="1225490" cy="64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3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3"/>
          <p:cNvSpPr/>
          <p:nvPr/>
        </p:nvSpPr>
        <p:spPr>
          <a:xfrm>
            <a:off x="365760" y="73152"/>
            <a:ext cx="82296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AUTHOR RESULTS — the Timeline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3"/>
          <p:cNvSpPr/>
          <p:nvPr/>
        </p:nvSpPr>
        <p:spPr>
          <a:xfrm>
            <a:off x="0" y="640080"/>
            <a:ext cx="9144000" cy="549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3"/>
          <p:cNvSpPr/>
          <p:nvPr/>
        </p:nvSpPr>
        <p:spPr>
          <a:xfrm>
            <a:off x="6858000" y="4796028"/>
            <a:ext cx="219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PnL &amp; BTC Movement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9" name="Google Shape;549;p23" title="chart_btc_at_publicatio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27730"/>
            <a:ext cx="8839204" cy="343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4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4"/>
          <p:cNvSpPr/>
          <p:nvPr/>
        </p:nvSpPr>
        <p:spPr>
          <a:xfrm>
            <a:off x="365760" y="73152"/>
            <a:ext cx="82296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AUTHOR RESULTS — Figs 3–6 from Paper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7" name="Google Shape;55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5975" y="694950"/>
            <a:ext cx="7195360" cy="4448550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24"/>
          <p:cNvSpPr txBox="1"/>
          <p:nvPr/>
        </p:nvSpPr>
        <p:spPr>
          <a:xfrm rot="-1754240">
            <a:off x="783882" y="720520"/>
            <a:ext cx="730916" cy="39150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Alice</a:t>
            </a:r>
            <a:endParaRPr/>
          </a:p>
        </p:txBody>
      </p:sp>
      <p:sp>
        <p:nvSpPr>
          <p:cNvPr id="559" name="Google Shape;559;p24"/>
          <p:cNvSpPr txBox="1"/>
          <p:nvPr/>
        </p:nvSpPr>
        <p:spPr>
          <a:xfrm rot="1539631">
            <a:off x="7936768" y="907042"/>
            <a:ext cx="730883" cy="3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Bob</a:t>
            </a:r>
            <a:endParaRPr/>
          </a:p>
        </p:txBody>
      </p:sp>
      <p:sp>
        <p:nvSpPr>
          <p:cNvPr id="560" name="Google Shape;560;p24"/>
          <p:cNvSpPr txBox="1"/>
          <p:nvPr/>
        </p:nvSpPr>
        <p:spPr>
          <a:xfrm rot="-843886">
            <a:off x="656613" y="2912595"/>
            <a:ext cx="730808" cy="3915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Carlie</a:t>
            </a:r>
            <a:endParaRPr/>
          </a:p>
        </p:txBody>
      </p:sp>
      <p:sp>
        <p:nvSpPr>
          <p:cNvPr id="561" name="Google Shape;561;p24"/>
          <p:cNvSpPr txBox="1"/>
          <p:nvPr/>
        </p:nvSpPr>
        <p:spPr>
          <a:xfrm>
            <a:off x="8262950" y="4056706"/>
            <a:ext cx="10350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aramond"/>
                <a:ea typeface="Garamond"/>
                <a:cs typeface="Garamond"/>
                <a:sym typeface="Garamond"/>
              </a:rPr>
              <a:t>Dimitri.</a:t>
            </a:r>
            <a:endParaRPr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62" name="Google Shape;562;p24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3" name="Google Shape;563;p24"/>
          <p:cNvPicPr preferRelativeResize="0"/>
          <p:nvPr/>
        </p:nvPicPr>
        <p:blipFill rotWithShape="1">
          <a:blip r:embed="rId4">
            <a:alphaModFix/>
          </a:blip>
          <a:srcRect b="11684" l="0" r="0" t="0"/>
          <a:stretch/>
        </p:blipFill>
        <p:spPr>
          <a:xfrm>
            <a:off x="4659750" y="2868800"/>
            <a:ext cx="3531576" cy="1728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25"/>
          <p:cNvSpPr txBox="1"/>
          <p:nvPr/>
        </p:nvSpPr>
        <p:spPr>
          <a:xfrm>
            <a:off x="7727975" y="302656"/>
            <a:ext cx="10350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aramond"/>
                <a:ea typeface="Garamond"/>
                <a:cs typeface="Garamond"/>
                <a:sym typeface="Garamond"/>
              </a:rPr>
              <a:t>Dimitri.</a:t>
            </a:r>
            <a:endParaRPr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570" name="Google Shape;570;p25"/>
          <p:cNvPicPr preferRelativeResize="0"/>
          <p:nvPr/>
        </p:nvPicPr>
        <p:blipFill rotWithShape="1">
          <a:blip r:embed="rId3">
            <a:alphaModFix/>
          </a:blip>
          <a:srcRect b="8896" l="51409" r="0" t="48414"/>
          <a:stretch/>
        </p:blipFill>
        <p:spPr>
          <a:xfrm>
            <a:off x="2702007" y="169603"/>
            <a:ext cx="4058137" cy="220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25" title="chart_ratio_by_direction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775" y="2204252"/>
            <a:ext cx="8950451" cy="2845124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25"/>
          <p:cNvSpPr txBox="1"/>
          <p:nvPr/>
        </p:nvSpPr>
        <p:spPr>
          <a:xfrm>
            <a:off x="4360200" y="121721"/>
            <a:ext cx="7437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/>
              <a:t>Aggregate</a:t>
            </a:r>
            <a:endParaRPr b="1" sz="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8" name="Google Shape;57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6551" y="1151788"/>
            <a:ext cx="6370901" cy="283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7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7"/>
          <p:cNvSpPr/>
          <p:nvPr/>
        </p:nvSpPr>
        <p:spPr>
          <a:xfrm>
            <a:off x="365760" y="73152"/>
            <a:ext cx="82296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AUTHOR RESULTS — Figs 3–6 from Paper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6" name="Google Shape;58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5975" y="694950"/>
            <a:ext cx="7195360" cy="444855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27"/>
          <p:cNvSpPr txBox="1"/>
          <p:nvPr/>
        </p:nvSpPr>
        <p:spPr>
          <a:xfrm rot="-1754240">
            <a:off x="783882" y="720520"/>
            <a:ext cx="730916" cy="39150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Alice</a:t>
            </a:r>
            <a:endParaRPr/>
          </a:p>
        </p:txBody>
      </p:sp>
      <p:sp>
        <p:nvSpPr>
          <p:cNvPr id="588" name="Google Shape;588;p27"/>
          <p:cNvSpPr txBox="1"/>
          <p:nvPr/>
        </p:nvSpPr>
        <p:spPr>
          <a:xfrm rot="1539631">
            <a:off x="7936768" y="907042"/>
            <a:ext cx="730883" cy="3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Bob</a:t>
            </a:r>
            <a:endParaRPr/>
          </a:p>
        </p:txBody>
      </p:sp>
      <p:sp>
        <p:nvSpPr>
          <p:cNvPr id="589" name="Google Shape;589;p27"/>
          <p:cNvSpPr txBox="1"/>
          <p:nvPr/>
        </p:nvSpPr>
        <p:spPr>
          <a:xfrm rot="-843886">
            <a:off x="656613" y="2912595"/>
            <a:ext cx="730808" cy="3915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Carlie</a:t>
            </a:r>
            <a:endParaRPr/>
          </a:p>
        </p:txBody>
      </p:sp>
      <p:sp>
        <p:nvSpPr>
          <p:cNvPr id="590" name="Google Shape;590;p27"/>
          <p:cNvSpPr txBox="1"/>
          <p:nvPr/>
        </p:nvSpPr>
        <p:spPr>
          <a:xfrm>
            <a:off x="8262950" y="4056706"/>
            <a:ext cx="10350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aramond"/>
                <a:ea typeface="Garamond"/>
                <a:cs typeface="Garamond"/>
                <a:sym typeface="Garamond"/>
              </a:rPr>
              <a:t>Dimitri.</a:t>
            </a:r>
            <a:endParaRPr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91" name="Google Shape;591;p27"/>
          <p:cNvSpPr/>
          <p:nvPr/>
        </p:nvSpPr>
        <p:spPr>
          <a:xfrm>
            <a:off x="0" y="640080"/>
            <a:ext cx="9144000" cy="549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2" name="Google Shape;592;p27"/>
          <p:cNvPicPr preferRelativeResize="0"/>
          <p:nvPr/>
        </p:nvPicPr>
        <p:blipFill rotWithShape="1">
          <a:blip r:embed="rId4">
            <a:alphaModFix/>
          </a:blip>
          <a:srcRect b="11684" l="0" r="0" t="0"/>
          <a:stretch/>
        </p:blipFill>
        <p:spPr>
          <a:xfrm>
            <a:off x="4659750" y="2868800"/>
            <a:ext cx="3531576" cy="1728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28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8"/>
          <p:cNvSpPr/>
          <p:nvPr/>
        </p:nvSpPr>
        <p:spPr>
          <a:xfrm>
            <a:off x="5669280" y="274320"/>
            <a:ext cx="3200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3B"/>
              </a:buClr>
              <a:buSzPts val="20000"/>
              <a:buFont typeface="Calibri"/>
              <a:buNone/>
            </a:pPr>
            <a:r>
              <a:rPr lang="en-US" sz="20000">
                <a:solidFill>
                  <a:srgbClr val="1B2A3B"/>
                </a:solidFill>
                <a:latin typeface="Calibri"/>
                <a:ea typeface="Calibri"/>
                <a:cs typeface="Calibri"/>
                <a:sym typeface="Calibri"/>
              </a:rPr>
              <a:t>₿</a:t>
            </a:r>
            <a:endParaRPr sz="20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8"/>
          <p:cNvSpPr/>
          <p:nvPr/>
        </p:nvSpPr>
        <p:spPr>
          <a:xfrm>
            <a:off x="320040" y="27432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8"/>
          <p:cNvSpPr/>
          <p:nvPr/>
        </p:nvSpPr>
        <p:spPr>
          <a:xfrm>
            <a:off x="320040" y="868680"/>
            <a:ext cx="5303520" cy="1097280"/>
          </a:xfrm>
          <a:prstGeom prst="rect">
            <a:avLst/>
          </a:prstGeom>
          <a:solidFill>
            <a:srgbClr val="1B2A3B"/>
          </a:solidFill>
          <a:ln cap="flat" cmpd="sng" w="12700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8"/>
          <p:cNvSpPr/>
          <p:nvPr/>
        </p:nvSpPr>
        <p:spPr>
          <a:xfrm>
            <a:off x="320040" y="868680"/>
            <a:ext cx="594360" cy="109728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8"/>
          <p:cNvSpPr/>
          <p:nvPr/>
        </p:nvSpPr>
        <p:spPr>
          <a:xfrm>
            <a:off x="320040" y="868680"/>
            <a:ext cx="5943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8"/>
          <p:cNvSpPr/>
          <p:nvPr/>
        </p:nvSpPr>
        <p:spPr>
          <a:xfrm>
            <a:off x="1005840" y="1051560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Mixed — GEPA generated richer domain-specific prompts, but GEPA-best did not consistently beat the seed on test QWK.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8"/>
          <p:cNvSpPr/>
          <p:nvPr/>
        </p:nvSpPr>
        <p:spPr>
          <a:xfrm>
            <a:off x="320040" y="2103120"/>
            <a:ext cx="5303520" cy="1097280"/>
          </a:xfrm>
          <a:prstGeom prst="rect">
            <a:avLst/>
          </a:prstGeom>
          <a:solidFill>
            <a:srgbClr val="1B2A3B"/>
          </a:solidFill>
          <a:ln cap="flat" cmpd="sng" w="12700">
            <a:solidFill>
              <a:srgbClr val="2A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8"/>
          <p:cNvSpPr/>
          <p:nvPr/>
        </p:nvSpPr>
        <p:spPr>
          <a:xfrm>
            <a:off x="320040" y="2103120"/>
            <a:ext cx="594360" cy="109728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8"/>
          <p:cNvSpPr/>
          <p:nvPr/>
        </p:nvSpPr>
        <p:spPr>
          <a:xfrm>
            <a:off x="320040" y="2103120"/>
            <a:ext cx="5943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8"/>
          <p:cNvSpPr/>
          <p:nvPr/>
        </p:nvSpPr>
        <p:spPr>
          <a:xfrm>
            <a:off x="1005840" y="2286000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Qwen 3.6 wins overall — best confidence calibration (0.385) + competitive direction (0.794) = highest combined QWK (1.178).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8"/>
          <p:cNvSpPr/>
          <p:nvPr/>
        </p:nvSpPr>
        <p:spPr>
          <a:xfrm>
            <a:off x="320040" y="342900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8"/>
          <p:cNvSpPr/>
          <p:nvPr/>
        </p:nvSpPr>
        <p:spPr>
          <a:xfrm>
            <a:off x="320040" y="3767328"/>
            <a:ext cx="5303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Larger, more diverse labeled dataset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8"/>
          <p:cNvSpPr/>
          <p:nvPr/>
        </p:nvSpPr>
        <p:spPr>
          <a:xfrm>
            <a:off x="320040" y="4096512"/>
            <a:ext cx="5303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Direction-aware training metric (penalize boundary crossings)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8"/>
          <p:cNvSpPr/>
          <p:nvPr/>
        </p:nvSpPr>
        <p:spPr>
          <a:xfrm>
            <a:off x="320040" y="4425696"/>
            <a:ext cx="5303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Expand author trust analysis across more authors, time windows &amp; market conditions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8"/>
          <p:cNvSpPr/>
          <p:nvPr/>
        </p:nvSpPr>
        <p:spPr>
          <a:xfrm>
            <a:off x="6858000" y="479602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A8FA6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